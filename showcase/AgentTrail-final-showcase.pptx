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READ THIS</a:t>
            </a:r>
          </a:p>
          <a:p/>
          <a:p>
            <a:r>
              <a:t>From December 2027, for many high-risk uses, “the AI said so” will not be enough.</a:t>
            </a:r>
          </a:p>
          <a:p/>
          <a:p>
            <a:r>
              <a:t>Article 12 of the EU AI Act requires systems to support automatic logging, so important decisions can be traced.</a:t>
            </a:r>
          </a:p>
          <a:p/>
          <a:p>
            <a:r>
              <a:t>AgentTrail turns that principle into an engineering control.</a:t>
            </a:r>
          </a:p>
          <a:p/>
          <a:p>
            <a:r>
              <a:t>PRESENTER CUE: Advance to Slide 2.</a:t>
            </a:r>
          </a:p>
          <a:p/>
          <a:p>
            <a:r>
              <a:t>SOURCES AND ACCURACY NOTES</a:t>
            </a:r>
          </a:p>
          <a:p/>
          <a:p>
            <a:r>
              <a:t>- EU AI Act (Reg. (EU) 2024/1689) generally applicable 2 Aug 2026.</a:t>
            </a:r>
          </a:p>
          <a:p>
            <a:r>
              <a:t>- Per Reg. (EU) 2026/1744, Annex III high-risk rules apply from 2 Dec 2027.</a:t>
            </a:r>
          </a:p>
          <a:p>
            <a:r>
              <a:t>- High-risk rules for Annex I embedded products apply from 2 Aug 2028.</a:t>
            </a:r>
          </a:p>
          <a:p>
            <a:r>
              <a:t>- Art. 12: high-risk AI systems must technically allow automatic recording of events over their lifetime, supporting traceability appropriate to the system's purpose.</a:t>
            </a:r>
          </a:p>
          <a:p>
            <a:r>
              <a:t>- AgentTrail = engineering alignment, not a legal-compliance claim; this demonstrator is not a regulated high-risk system.</a:t>
            </a:r>
          </a:p>
          <a:p>
            <a:r>
              <a:t>- Sources: digital-strategy.ec.europa.eu/en/policies/regulatory-framework-ai · eur-lex.europa.eu/eli/reg/2026/1744/oj/eng · eur-lex.europa.eu/eli/reg/2024/1689/oj/eng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READ THIS</a:t>
            </a:r>
          </a:p>
          <a:p/>
          <a:p>
            <a:r>
              <a:t>Here’s how.</a:t>
            </a:r>
          </a:p>
          <a:p/>
          <a:p>
            <a:r>
              <a:t>The agent makes a decision, and AgentTrail stores it in an append-only audit trail.</a:t>
            </a:r>
          </a:p>
          <a:p/>
          <a:p>
            <a:r>
              <a:t>The evaluation reads that decision back from the trail, compares it with the expected behaviour, and the CI gate decides whether the change can be released.</a:t>
            </a:r>
          </a:p>
          <a:p/>
          <a:p>
            <a:r>
              <a:t>Recorded model responses keep the test deterministic and offline.</a:t>
            </a:r>
          </a:p>
          <a:p/>
          <a:p>
            <a:r>
              <a:t>PRESENTER CUE: Switch to Terminal.</a:t>
            </a:r>
          </a:p>
          <a:p/>
          <a:p>
            <a:r>
              <a:t>First, the safe version.</a:t>
            </a:r>
          </a:p>
          <a:p/>
          <a:p>
            <a:r>
              <a:t>Run:</a:t>
            </a:r>
          </a:p>
          <a:p/>
          <a:p>
            <a:r>
              <a:t>python3 -m agenttrail.ci_gate --agent-version v1</a:t>
            </a:r>
          </a:p>
          <a:p/>
          <a:p>
            <a:r>
              <a:t>It escalates all twelve low-confidence cases, so the gate passes.</a:t>
            </a:r>
          </a:p>
          <a:p/>
          <a:p>
            <a:r>
              <a:t>Now I’ll run an intentionally unsafe version that has been made over-confident.</a:t>
            </a:r>
          </a:p>
          <a:p/>
          <a:p>
            <a:r>
              <a:t>Run:</a:t>
            </a:r>
          </a:p>
          <a:p/>
          <a:p>
            <a:r>
              <a:t>python3 -m agenttrail.ci_gate --agent-version v2</a:t>
            </a:r>
          </a:p>
          <a:p/>
          <a:p>
            <a:r>
              <a:t>PRESENTER CUE: Stop typing and pause when the red result appears.</a:t>
            </a:r>
          </a:p>
          <a:p/>
          <a:p>
            <a:r>
              <a:t>It escalates only nine cases and misses three decisions that should have gone to a human.</a:t>
            </a:r>
          </a:p>
          <a:p/>
          <a:p>
            <a:r>
              <a:t>The process exits with status one and blocks the pipeline.</a:t>
            </a:r>
          </a:p>
          <a:p/>
          <a:p>
            <a:r>
              <a:t>This red result is not the demo failing. It is the safety control doing its job: stopping an unsafe change before deployment.</a:t>
            </a:r>
          </a:p>
          <a:p/>
          <a:p>
            <a:r>
              <a:t>PRESENTER CUE: Return to Slide 3.</a:t>
            </a:r>
          </a:p>
          <a:p/>
          <a:p>
            <a:r>
              <a:t>SOURCES AND ACCURACY NOTES</a:t>
            </a:r>
          </a:p>
          <a:p/>
          <a:p>
            <a:r>
              <a:t>- Evaluation reads decisions back from the persisted append-only audit trail, never the agent's return value.</a:t>
            </a:r>
          </a:p>
          <a:p>
            <a:r>
              <a:t>- Runs are deterministic and offline against recorded responses — no live model call in CI.</a:t>
            </a:r>
          </a:p>
          <a:p>
            <a:r>
              <a:t>- Expected live outputs: v1 → CI GATE: PASS, measured_rate=1.0000, 12/12 escalated, exit 0. v2 → CI GATE: FAIL, measured_rate=0.7500, 9/12, three mismatch lines, Decision: Gate blocked, exit 1 (intentional — v2 is a synthetic, controlled unsafe version).</a:t>
            </a:r>
          </a:p>
          <a:p>
            <a:r>
              <a:t>- The local JSONL trail is a demonstrator, not tamper-proof production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READ THIS</a:t>
            </a:r>
          </a:p>
          <a:p/>
          <a:p>
            <a:r>
              <a:t>And because the trail exists, I can test a proposed policy against past decisions before applying it.</a:t>
            </a:r>
          </a:p>
          <a:p/>
          <a:p>
            <a:r>
              <a:t>Across thirty-six records, one decision would change.</a:t>
            </a:r>
          </a:p>
          <a:p/>
          <a:p>
            <a:r>
              <a:t>That gives people evidence for review. It does not automatically approve the policy.</a:t>
            </a:r>
          </a:p>
          <a:p/>
          <a:p>
            <a:r>
              <a:t>The important result is simple:</a:t>
            </a:r>
          </a:p>
          <a:p/>
          <a:p>
            <a:r>
              <a:t>An unsafe AI change cannot pass silently.</a:t>
            </a:r>
          </a:p>
          <a:p/>
          <a:p>
            <a:r>
              <a:t>PRESENTER CUE: Stop there. No thank-you slide; keep future work for questions.</a:t>
            </a:r>
          </a:p>
          <a:p/>
          <a:p>
            <a:r>
              <a:t>SOURCES AND ACCURACY NOTES</a:t>
            </a:r>
          </a:p>
          <a:p/>
          <a:p>
            <a:r>
              <a:t>- All figures from verified runs on this branch: v1 gate PASS (measured_rate=1.0000, 12/12 escalated, exit 0); v2 gate FAIL (measured_rate=0.7500, 9/12, mismatches SYN-003 / SYN-015 / SYN-027, exit 1 — intentional controlled regression).</a:t>
            </a:r>
          </a:p>
          <a:p>
            <a:r>
              <a:t>- Policy replay: 36 records evaluated, 35 unchanged, 1 flip — SYN-031 decide → escalate under the proposed 0.95 confidence threshold (stored confidence 0.9000).</a:t>
            </a:r>
          </a:p>
          <a:p>
            <a:r>
              <a:t>- Replay is read-only change-impact evidence, not approval or rejection of the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DA5FF"/>
                </a:solidFill>
                <a:latin typeface="Helvetica Neue"/>
              </a:rPr>
              <a:t>AGENTTRAIL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By December 2027,</a:t>
            </a:r>
          </a:p>
          <a:p>
            <a:pPr algn="l">
              <a:spcBef>
                <a:spcPts val="400"/>
              </a:spcBef>
            </a:pPr>
            <a:r>
              <a:rPr sz="5400" b="1" i="0">
                <a:solidFill>
                  <a:srgbClr val="3DA5FF"/>
                </a:solidFill>
                <a:latin typeface="Helvetica Neue"/>
              </a:rPr>
              <a:t>‘the AI said so’</a:t>
            </a:r>
          </a:p>
          <a:p>
            <a:pPr algn="l">
              <a:spcBef>
                <a:spcPts val="400"/>
              </a:spcBef>
            </a:pPr>
            <a:r>
              <a:rPr sz="5400" b="1" i="0">
                <a:solidFill>
                  <a:srgbClr val="FFFFFF"/>
                </a:solidFill>
                <a:latin typeface="Helvetica Neue"/>
              </a:rPr>
              <a:t>will no longer be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93A1AD"/>
                </a:solidFill>
                <a:latin typeface="Helvetica Neue"/>
              </a:rPr>
              <a:t>For many high-risk uses, Article 12 requires AI systems to support automatic event logging and traceability.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532120"/>
            <a:ext cx="10543032" cy="19050"/>
          </a:xfrm>
          <a:prstGeom prst="rect">
            <a:avLst/>
          </a:prstGeom>
          <a:solidFill>
            <a:srgbClr val="2E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9032" y="5477255"/>
            <a:ext cx="128016" cy="128016"/>
          </a:xfrm>
          <a:prstGeom prst="ellipse">
            <a:avLst/>
          </a:prstGeom>
          <a:solidFill>
            <a:srgbClr val="2E3A47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82112" y="5477255"/>
            <a:ext cx="128016" cy="128016"/>
          </a:xfrm>
          <a:prstGeom prst="ellipse">
            <a:avLst/>
          </a:prstGeom>
          <a:solidFill>
            <a:srgbClr val="2E3A47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65192" y="5477255"/>
            <a:ext cx="128016" cy="128016"/>
          </a:xfrm>
          <a:prstGeom prst="ellipse">
            <a:avLst/>
          </a:prstGeom>
          <a:solidFill>
            <a:srgbClr val="2E3A47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48272" y="5477255"/>
            <a:ext cx="128016" cy="128016"/>
          </a:xfrm>
          <a:prstGeom prst="ellipse">
            <a:avLst/>
          </a:prstGeom>
          <a:solidFill>
            <a:srgbClr val="2E3A47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31352" y="5477255"/>
            <a:ext cx="128016" cy="128016"/>
          </a:xfrm>
          <a:prstGeom prst="ellipse">
            <a:avLst/>
          </a:prstGeom>
          <a:solidFill>
            <a:srgbClr val="2E3A47"/>
          </a:solidFill>
          <a:ln w="9525">
            <a:solidFill>
              <a:srgbClr val="3E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77856" y="5440679"/>
            <a:ext cx="201168" cy="201168"/>
          </a:xfrm>
          <a:prstGeom prst="ellipse">
            <a:avLst/>
          </a:prstGeom>
          <a:solidFill>
            <a:srgbClr val="3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26E79"/>
                </a:solidFill>
                <a:latin typeface="Helvetica Neue"/>
              </a:rPr>
              <a:t>EU AI Act  ·  Annex III high-risk rules apply 2 December 2027  ·  engineering alignment, not a compliance claim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Helvetica Neue"/>
              </a:rPr>
              <a:t>AgentTrail turns evidence into a release decision.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828800"/>
            <a:ext cx="3977639" cy="502920"/>
          </a:xfrm>
          <a:prstGeom prst="roundRect">
            <a:avLst>
              <a:gd name="adj" fmla="val 14000"/>
            </a:avLst>
          </a:prstGeom>
          <a:solidFill>
            <a:srgbClr val="161D27"/>
          </a:solidFill>
          <a:ln w="15875">
            <a:solidFill>
              <a:srgbClr val="2E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Helvetica Neue"/>
              </a:rPr>
              <a:t>AI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03620" y="2331720"/>
            <a:ext cx="0" cy="237743"/>
          </a:xfrm>
          <a:prstGeom prst="line">
            <a:avLst/>
          </a:prstGeom>
          <a:ln w="22225">
            <a:solidFill>
              <a:srgbClr val="93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0" y="2569463"/>
            <a:ext cx="3977639" cy="731520"/>
          </a:xfrm>
          <a:prstGeom prst="roundRect">
            <a:avLst>
              <a:gd name="adj" fmla="val 14000"/>
            </a:avLst>
          </a:prstGeom>
          <a:solidFill>
            <a:srgbClr val="3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0A0E14"/>
                </a:solidFill>
                <a:latin typeface="Helvetica Neue"/>
              </a:rPr>
              <a:t>append-only audit trail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03620" y="3300983"/>
            <a:ext cx="0" cy="237744"/>
          </a:xfrm>
          <a:prstGeom prst="line">
            <a:avLst/>
          </a:prstGeom>
          <a:ln w="22225">
            <a:solidFill>
              <a:srgbClr val="93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3538727"/>
            <a:ext cx="3977639" cy="502920"/>
          </a:xfrm>
          <a:prstGeom prst="roundRect">
            <a:avLst>
              <a:gd name="adj" fmla="val 14000"/>
            </a:avLst>
          </a:prstGeom>
          <a:solidFill>
            <a:srgbClr val="161D27"/>
          </a:solidFill>
          <a:ln w="15875">
            <a:solidFill>
              <a:srgbClr val="2E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Helvetica Neue"/>
              </a:rPr>
              <a:t>behavioural evaluation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3620" y="4041647"/>
            <a:ext cx="0" cy="237744"/>
          </a:xfrm>
          <a:prstGeom prst="line">
            <a:avLst/>
          </a:prstGeom>
          <a:ln w="22225">
            <a:solidFill>
              <a:srgbClr val="93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0" y="4279391"/>
            <a:ext cx="3977639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A0E14"/>
                </a:solidFill>
                <a:latin typeface="Helvetica Neue"/>
              </a:rPr>
              <a:t>CI safety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10711"/>
            <a:ext cx="2651760" cy="804672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2E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93A1AD"/>
                </a:solidFill>
                <a:latin typeface="Helvetica Neue"/>
              </a:rPr>
              <a:t>labelled golden dataset</a:t>
            </a:r>
          </a:p>
          <a:p>
            <a:pPr algn="ctr"/>
            <a:r>
              <a:rPr sz="1300" b="0" i="0">
                <a:solidFill>
                  <a:srgbClr val="93A1AD"/>
                </a:solidFill>
                <a:latin typeface="Helvetica Neue"/>
              </a:rPr>
              <a:t>recorded responses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3790187"/>
            <a:ext cx="585216" cy="0"/>
          </a:xfrm>
          <a:prstGeom prst="line">
            <a:avLst/>
          </a:prstGeom>
          <a:ln w="22225">
            <a:solidFill>
              <a:srgbClr val="93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2670047"/>
            <a:ext cx="2286000" cy="566928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3DA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DA5FF"/>
                </a:solidFill>
                <a:latin typeface="Helvetica Neue"/>
              </a:rPr>
              <a:t>policy replay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2935223"/>
            <a:ext cx="996696" cy="0"/>
          </a:xfrm>
          <a:prstGeom prst="line">
            <a:avLst/>
          </a:prstGeom>
          <a:ln w="22225">
            <a:solidFill>
              <a:srgbClr val="3DA5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0" y="3346703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26E79"/>
                </a:solidFill>
                <a:latin typeface="Helvetica Neue"/>
              </a:rPr>
              <a:t>reads the same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</a:rPr>
              <a:t>Offline. Deterministic. No live model call in CI.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26E79"/>
                </a:solidFill>
                <a:latin typeface="Helvetica Neue"/>
              </a:rPr>
              <a:t>trail is a local append-only JSONL file — a demonstrator, not tamper-proof production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Helvetica Neue"/>
              </a:rPr>
              <a:t>Unsafe change: blocked before deployment.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57400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93A1AD"/>
                </a:solidFill>
                <a:latin typeface="Helvetica Neue"/>
              </a:rPr>
              <a:t>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8288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 i="0">
                <a:solidFill>
                  <a:srgbClr val="2EC26E"/>
                </a:solidFill>
                <a:latin typeface="Helvetica Neue"/>
              </a:rPr>
              <a:t>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2066543"/>
            <a:ext cx="3108960" cy="713232"/>
          </a:xfrm>
          <a:prstGeom prst="roundRect">
            <a:avLst>
              <a:gd name="adj" fmla="val 14000"/>
            </a:avLst>
          </a:prstGeom>
          <a:solidFill>
            <a:srgbClr val="2EC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0A0E14"/>
                </a:solidFill>
                <a:latin typeface="Helvetica Neue"/>
              </a:rPr>
              <a:t>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93A1AD"/>
                </a:solidFill>
                <a:latin typeface="Helvetica Neue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06324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 i="0">
                <a:solidFill>
                  <a:srgbClr val="F14C4C"/>
                </a:solidFill>
                <a:latin typeface="Helvetica Neue"/>
              </a:rPr>
              <a:t>75%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300984"/>
            <a:ext cx="3108960" cy="713232"/>
          </a:xfrm>
          <a:prstGeom prst="roundRect">
            <a:avLst>
              <a:gd name="adj" fmla="val 14000"/>
            </a:avLst>
          </a:prstGeom>
          <a:solidFill>
            <a:srgbClr val="F1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0A0E14"/>
                </a:solidFill>
                <a:latin typeface="Helvetica Neue"/>
              </a:rPr>
              <a:t>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93A1AD"/>
                </a:solidFill>
                <a:latin typeface="Helvetica Neue"/>
              </a:rPr>
              <a:t>three missed escalations  ·  exit status 1 stops the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3DA5FF"/>
                </a:solidFill>
                <a:latin typeface="Helvetica Neue"/>
              </a:rPr>
              <a:t>36 past decisions replayed. One would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Helvetica Neue"/>
              </a:rPr>
              <a:t>An unsafe AI change cannot pass silently.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